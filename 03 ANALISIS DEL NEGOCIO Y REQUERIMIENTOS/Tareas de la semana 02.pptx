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12"/>
  </p:notesMasterIdLst>
  <p:sldIdLst>
    <p:sldId id="313" r:id="rId2"/>
    <p:sldId id="332" r:id="rId3"/>
    <p:sldId id="326" r:id="rId4"/>
    <p:sldId id="328" r:id="rId5"/>
    <p:sldId id="320" r:id="rId6"/>
    <p:sldId id="327" r:id="rId7"/>
    <p:sldId id="322" r:id="rId8"/>
    <p:sldId id="329" r:id="rId9"/>
    <p:sldId id="331" r:id="rId10"/>
    <p:sldId id="330" r:id="rId11"/>
  </p:sldIdLst>
  <p:sldSz cx="9144000" cy="6858000" type="screen4x3"/>
  <p:notesSz cx="9144000" cy="6858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0681" autoAdjust="0"/>
  </p:normalViewPr>
  <p:slideViewPr>
    <p:cSldViewPr>
      <p:cViewPr>
        <p:scale>
          <a:sx n="62" d="100"/>
          <a:sy n="62" d="100"/>
        </p:scale>
        <p:origin x="-1278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1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4A598-FEF9-42B6-BEF2-18D1CA6802A6}" type="datetimeFigureOut">
              <a:rPr lang="es-MX" smtClean="0"/>
              <a:pPr/>
              <a:t>16/06/2021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1EE3D-06CE-4C21-A393-07700B4C971F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="" xmlns:p14="http://schemas.microsoft.com/office/powerpoint/2010/main" val="56388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C42CF61-8A1D-464C-8EC8-A997E96C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4F145FF1-E5B7-4A4B-A46A-FDD37D366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F51BBBF-FC34-4F0D-9B2D-2B75057B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7761E4E-820C-4747-8607-7418E92A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6F8B079A-88FB-4954-9717-765B4967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361992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647DC25-F8ED-4EFC-AF85-4535BFFA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DD76C317-9430-4B8D-81BD-8C4D41E6C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A23B20B-DF42-420B-AE02-6E98F6E4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C02C764-B55D-48A4-99A6-37533154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D78DD7-C879-4006-9AC0-8D6BA510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357946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1CC22B9-E58C-401E-9BFD-71187D95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150B0BFB-80AB-488B-B211-FE3E2D54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123D3C7-FF8B-4C5B-98D1-671DE7C4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EF198C7-51DD-43AE-818F-06CAD19D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8861B8B-F37D-48D1-B7DF-5C7BC04E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44112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2E14856-27B3-454D-BCF3-6F1CF26FD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D93DC0EE-3B00-49A7-AD93-B01F44F3D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6FDA8F90-D1A1-4A61-95D7-C17AF33E6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36331D9B-A264-4590-867A-79EC2CD7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C18A759D-1D0C-45FF-A42E-32E7295B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166D3C28-0BB3-417C-8030-9F8D0A22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78539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170D0F7-8AD6-4E95-81EF-3702C44C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D8BF1EA4-AB01-4039-97C4-FCDF485B8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72EE77EB-4633-40A8-BC5A-7CE423A85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7A0F3C70-3E1C-44F8-8329-67C45B3D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B2A0043B-9C1A-44C1-A152-FAB956127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3969DF70-FBEA-4267-9837-F0C41B53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AE4D3126-871A-44E1-8ACA-B3A6A127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722B92BA-D9F9-4A37-82AC-5E17309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205484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A29FAAF-E285-4FD7-8433-FCAA2973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974DBA1C-8F8F-48E4-88B5-08C78FCD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67A869D9-9B6F-48C6-A140-0256BBFF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AE8AFEDA-E59E-430F-A4C7-F3C254F9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121773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7C6BA6E7-B7F6-455B-8478-6211E19F2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B727AC63-C98E-44C3-91FE-196DBEBC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B07B1D11-5FEC-4258-B8DF-60C6EFC2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110717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B351821-3AC8-451B-95D8-591EE367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FD3A9C35-3885-446F-9124-F30F28ED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2D4A156E-70D3-475A-A560-A26D39543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54A82165-0B47-478A-9972-9120596A7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BCF37ED4-EEDE-4288-9B36-19A55AEC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3CBC3E80-E9D0-4ECF-8529-F08705E1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27346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53E7152-F77F-4625-BE18-C35364A7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D955FA0C-74C8-46C4-9FCC-107FACC0B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1C6FEA32-1AB6-4A6C-8EA3-86DA0CA3C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D8190C0F-67F2-4CFC-B3D7-8B692B7D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3AC3A2A7-4A8D-443A-A146-94587B06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83E3909C-2570-47A6-BCBA-81378A07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9403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07858B-26AF-4125-AFD4-F222DAFB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D7B940E7-7D93-40F6-A191-2F84A3F7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78D37270-C19C-447B-BF35-8D9BC455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C2B1358-AF53-45D6-AC4B-4F17193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BAAA0F47-00C3-4B26-B96B-F24C5641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3055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31FB6D18-40E4-44B9-AD46-95B9A66C7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5126324B-9D17-4052-891B-4B6AEAEF4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C094058E-A30E-4C86-9989-A65A2322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23D7B97C-920D-4F32-B82C-75C4721F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4C00AC4-13C5-4718-9EEF-D624C09A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212288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B7BA2920-8C42-475A-99B9-EC3197BF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A41F494D-D087-4CBC-A3D9-9A696D09C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AFE33B2-4D70-4267-AE00-A27E32583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35A547B-112C-4DC5-8A4F-3B7FB672E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 marR="5080">
              <a:lnSpc>
                <a:spcPts val="1440"/>
              </a:lnSpc>
              <a:spcBef>
                <a:spcPts val="35"/>
              </a:spcBef>
            </a:pPr>
            <a:r>
              <a:rPr lang="es-MX" spc="-5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F58190D-4DED-4EA3-AA26-CF199A99F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25400">
              <a:lnSpc>
                <a:spcPts val="1630"/>
              </a:lnSpc>
            </a:pPr>
            <a:fld id="{81D60167-4931-47E6-BA6A-407CBD079E47}" type="slidenum">
              <a:rPr lang="es-MX" smtClean="0"/>
              <a:pPr marL="25400">
                <a:lnSpc>
                  <a:spcPts val="1630"/>
                </a:lnSpc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="" xmlns:p14="http://schemas.microsoft.com/office/powerpoint/2010/main" val="344561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1Y8LBWDEV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PVsJWSlXRY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eaguero\AppData\Local\Microsoft\Windows\Temporary Internet Files\Content.Outlook\IGNK4EC6\portad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9144000" cy="283464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2 CuadroTexto"/>
          <p:cNvSpPr txBox="1">
            <a:spLocks noChangeArrowheads="1"/>
          </p:cNvSpPr>
          <p:nvPr/>
        </p:nvSpPr>
        <p:spPr bwMode="auto">
          <a:xfrm>
            <a:off x="762000" y="3505200"/>
            <a:ext cx="7924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PE" altLang="es-PE" sz="2800" dirty="0" smtClean="0"/>
              <a:t>Guillermo Castillo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PE" altLang="es-PE" sz="2800" dirty="0" smtClean="0"/>
              <a:t>Tareas de la semana 02</a:t>
            </a:r>
          </a:p>
        </p:txBody>
      </p:sp>
      <p:sp>
        <p:nvSpPr>
          <p:cNvPr id="5122" name="AutoShape 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124" name="AutoShape 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126" name="AutoShape 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="" xmlns:p14="http://schemas.microsoft.com/office/powerpoint/2010/main" val="302001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7" name="26 Rectángulo"/>
          <p:cNvSpPr/>
          <p:nvPr/>
        </p:nvSpPr>
        <p:spPr>
          <a:xfrm>
            <a:off x="228600" y="990600"/>
            <a:ext cx="1284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/>
              <a:t>Lectura</a:t>
            </a:r>
            <a:endParaRPr lang="es-ES" sz="2800" b="1" dirty="0"/>
          </a:p>
        </p:txBody>
      </p:sp>
      <p:sp>
        <p:nvSpPr>
          <p:cNvPr id="28" name="27 Rectángulo"/>
          <p:cNvSpPr/>
          <p:nvPr/>
        </p:nvSpPr>
        <p:spPr>
          <a:xfrm>
            <a:off x="1143000" y="1828800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Lectura: </a:t>
            </a:r>
            <a:r>
              <a:rPr lang="es-ES" sz="2400" dirty="0" smtClean="0"/>
              <a:t>Capítulo 2 del BABOK® </a:t>
            </a:r>
            <a:endParaRPr lang="es-E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7" name="26 Rectángulo"/>
          <p:cNvSpPr/>
          <p:nvPr/>
        </p:nvSpPr>
        <p:spPr>
          <a:xfrm>
            <a:off x="228600" y="990600"/>
            <a:ext cx="35968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/>
              <a:t>Video complementario</a:t>
            </a:r>
            <a:endParaRPr lang="es-ES" sz="2800" b="1" dirty="0"/>
          </a:p>
        </p:txBody>
      </p:sp>
      <p:sp>
        <p:nvSpPr>
          <p:cNvPr id="28" name="27 Rectángulo"/>
          <p:cNvSpPr/>
          <p:nvPr/>
        </p:nvSpPr>
        <p:spPr>
          <a:xfrm>
            <a:off x="1143000" y="1828800"/>
            <a:ext cx="7543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200" dirty="0" smtClean="0"/>
              <a:t>Video complementario 01</a:t>
            </a:r>
            <a:endParaRPr lang="es-ES" sz="2200" dirty="0" smtClean="0"/>
          </a:p>
          <a:p>
            <a:r>
              <a:rPr lang="es-ES" sz="2200" dirty="0" smtClean="0">
                <a:hlinkClick r:id="rId3"/>
              </a:rPr>
              <a:t>https://www.youtube.com/watch?v=b1Y8LBWDEVs</a:t>
            </a:r>
            <a:endParaRPr lang="es-ES" sz="2200" dirty="0" smtClean="0"/>
          </a:p>
          <a:p>
            <a:endParaRPr lang="es-PE" sz="2200" dirty="0" smtClean="0"/>
          </a:p>
          <a:p>
            <a:endParaRPr lang="es-PE" sz="2200" dirty="0" smtClean="0"/>
          </a:p>
          <a:p>
            <a:endParaRPr lang="es-PE" sz="2200" dirty="0" smtClean="0"/>
          </a:p>
          <a:p>
            <a:r>
              <a:rPr lang="es-PE" sz="2200" dirty="0" smtClean="0"/>
              <a:t>Video complementario 02</a:t>
            </a:r>
            <a:endParaRPr lang="es-ES" sz="2200" dirty="0" smtClean="0"/>
          </a:p>
          <a:p>
            <a:r>
              <a:rPr lang="es-ES" sz="2200" dirty="0" smtClean="0"/>
              <a:t>https://www.youtube.com/watch?v=6nDsbZdS-ms</a:t>
            </a:r>
            <a:endParaRPr lang="es-ES" sz="2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609600" y="1434643"/>
            <a:ext cx="79248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800" b="1" i="0" u="none" strike="noStrike" cap="none" normalizeH="0" baseline="0" dirty="0" smtClean="0">
                <a:ln>
                  <a:noFill/>
                </a:ln>
                <a:solidFill>
                  <a:srgbClr val="2D3B45"/>
                </a:solidFill>
                <a:effectLst/>
                <a:latin typeface="Helvetica"/>
                <a:ea typeface="Times New Roman" pitchFamily="18" charset="0"/>
                <a:cs typeface="Times New Roman" pitchFamily="18" charset="0"/>
              </a:rPr>
              <a:t>Foro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r>
              <a:rPr lang="es-MX" sz="2800" b="1" dirty="0" smtClean="0"/>
              <a:t>Pregunta 01</a:t>
            </a:r>
            <a:endParaRPr lang="es-MX" sz="2800" dirty="0" smtClean="0"/>
          </a:p>
          <a:p>
            <a:r>
              <a:rPr lang="es-MX" sz="2800" dirty="0" smtClean="0"/>
              <a:t>¿Para que y por qué es importante identificar y clasificar a los </a:t>
            </a:r>
            <a:r>
              <a:rPr lang="es-MX" sz="2800" dirty="0" err="1" smtClean="0"/>
              <a:t>stakeholders</a:t>
            </a:r>
            <a:r>
              <a:rPr lang="es-MX" sz="2800" dirty="0" smtClean="0"/>
              <a:t>?</a:t>
            </a:r>
            <a:endParaRPr lang="es-MX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399"/>
            <a:ext cx="6324600" cy="3155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81000" y="927556"/>
            <a:ext cx="7924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800" b="1" i="0" u="none" strike="noStrike" cap="none" normalizeH="0" baseline="0" dirty="0" smtClean="0">
                <a:ln>
                  <a:noFill/>
                </a:ln>
                <a:solidFill>
                  <a:srgbClr val="2D3B45"/>
                </a:solidFill>
                <a:effectLst/>
                <a:latin typeface="Helvetica"/>
                <a:ea typeface="Times New Roman" pitchFamily="18" charset="0"/>
                <a:cs typeface="Times New Roman" pitchFamily="18" charset="0"/>
              </a:rPr>
              <a:t>Foro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r>
              <a:rPr lang="es-MX" sz="2800" b="1" dirty="0" smtClean="0"/>
              <a:t>Pregunta 02</a:t>
            </a:r>
            <a:endParaRPr lang="es-MX" sz="2800" dirty="0" smtClean="0"/>
          </a:p>
          <a:p>
            <a:r>
              <a:rPr lang="es-MX" sz="2800" dirty="0" smtClean="0"/>
              <a:t>Es la fase de planeación más importante que la fase de monitoreo y control en el estudio del análisis de negocios?</a:t>
            </a:r>
            <a:endParaRPr lang="es-MX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28600" y="913061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800" b="0" i="0" u="none" strike="noStrike" cap="none" normalizeH="0" baseline="0" dirty="0" smtClean="0">
                <a:ln>
                  <a:noFill/>
                </a:ln>
                <a:solidFill>
                  <a:srgbClr val="2D3B45"/>
                </a:solidFill>
                <a:effectLst/>
                <a:latin typeface="Helvetica"/>
                <a:ea typeface="Times New Roman" pitchFamily="18" charset="0"/>
                <a:cs typeface="Times New Roman" pitchFamily="18" charset="0"/>
              </a:rPr>
              <a:t>TAREA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sz="2800" dirty="0" smtClean="0">
              <a:solidFill>
                <a:srgbClr val="2D3B45"/>
              </a:solidFill>
              <a:latin typeface="Helvetica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ES" sz="2800" dirty="0" smtClean="0">
                <a:latin typeface="Arial" pitchFamily="34" charset="0"/>
                <a:ea typeface="Times New Roman" pitchFamily="18" charset="0"/>
                <a:cs typeface="Arial" pitchFamily="34" charset="0"/>
                <a:hlinkClick r:id="rId3"/>
              </a:rPr>
              <a:t>https://www.youtube.com/watch?v=3PVsJWSlXRY</a:t>
            </a:r>
            <a:endParaRPr lang="es-ES" sz="28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s-PE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r>
              <a:rPr lang="es-MX" sz="2800" b="1" dirty="0" smtClean="0"/>
              <a:t>Tome como referencia el archivo de la Plantilla de requerimientos de </a:t>
            </a:r>
            <a:r>
              <a:rPr lang="es-MX" sz="2800" b="1" dirty="0" err="1" smtClean="0"/>
              <a:t>stakeholders</a:t>
            </a:r>
            <a:r>
              <a:rPr lang="es-MX" sz="2800" b="1" dirty="0" smtClean="0"/>
              <a:t> que se adjunta.</a:t>
            </a:r>
            <a:endParaRPr lang="es-MX" sz="2800" dirty="0" smtClean="0"/>
          </a:p>
          <a:p>
            <a:r>
              <a:rPr lang="es-MX" sz="2800" dirty="0" smtClean="0"/>
              <a:t>Identifique los </a:t>
            </a:r>
            <a:r>
              <a:rPr lang="es-MX" sz="2800" dirty="0" err="1" smtClean="0"/>
              <a:t>stakeholders</a:t>
            </a:r>
            <a:r>
              <a:rPr lang="es-MX" sz="2800" dirty="0" smtClean="0"/>
              <a:t> más importantes y desarrolle:</a:t>
            </a:r>
          </a:p>
          <a:p>
            <a:r>
              <a:rPr lang="es-MX" sz="2800" dirty="0" smtClean="0"/>
              <a:t> La matriz de </a:t>
            </a:r>
            <a:r>
              <a:rPr lang="es-MX" sz="2800" dirty="0" err="1" smtClean="0"/>
              <a:t>stakeholders</a:t>
            </a:r>
            <a:r>
              <a:rPr lang="es-MX" sz="2800" dirty="0" smtClean="0"/>
              <a:t> y nomínelos según matriz RACI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990600"/>
            <a:ext cx="845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800" dirty="0" smtClean="0"/>
              <a:t>Identifique los </a:t>
            </a:r>
            <a:r>
              <a:rPr lang="es-MX" sz="2800" dirty="0" err="1" smtClean="0"/>
              <a:t>stakeholders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905000"/>
            <a:ext cx="8205201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990600"/>
            <a:ext cx="845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800" dirty="0" smtClean="0"/>
              <a:t>Matriz RACI</a:t>
            </a:r>
            <a:endParaRPr lang="es-ES" sz="28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124075"/>
            <a:ext cx="91440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B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3 Rectángulo">
            <a:extLst>
              <a:ext uri="{FF2B5EF4-FFF2-40B4-BE49-F238E27FC236}">
                <a16:creationId xmlns="" xmlns:a16="http://schemas.microsoft.com/office/drawing/2014/main" id="{AE94B425-6F92-4071-ADA1-5F5367212BD3}"/>
              </a:ext>
            </a:extLst>
          </p:cNvPr>
          <p:cNvSpPr/>
          <p:nvPr/>
        </p:nvSpPr>
        <p:spPr>
          <a:xfrm>
            <a:off x="0" y="836712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/>
          </a:p>
        </p:txBody>
      </p:sp>
      <p:pic>
        <p:nvPicPr>
          <p:cNvPr id="12" name="Picture 3">
            <a:extLst>
              <a:ext uri="{FF2B5EF4-FFF2-40B4-BE49-F238E27FC236}">
                <a16:creationId xmlns="" xmlns:a16="http://schemas.microsoft.com/office/drawing/2014/main" id="{D900F4DE-702F-47FE-8759-573AC491F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7187" t="25555" r="7605" b="65741"/>
          <a:stretch/>
        </p:blipFill>
        <p:spPr bwMode="auto">
          <a:xfrm>
            <a:off x="7164288" y="116632"/>
            <a:ext cx="18542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0" name="AutoShape 2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2" name="AutoShape 4" descr="UTP - Universidad Tecnológica del Perú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78" name="AutoShape 10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0" name="AutoShape 12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2" name="AutoShape 14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4" name="AutoShape 16" descr="GMD S.A. Grupo Graña y Montero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88" name="AutoShape 20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0" name="AutoShape 22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2" name="AutoShape 24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1994" name="AutoShape 26" descr="Consulting Outsourcing Management S.A. (COMSA) - Inicio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2" name="AutoShape 34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4" name="AutoShape 36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6" name="AutoShape 38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08" name="AutoShape 40" descr="Dolphin Telecom | Primera Red de Radios TETRA en el Per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4" name="AutoShape 4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6" name="AutoShape 48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18" name="AutoShape 50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0" name="AutoShape 52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2" name="AutoShape 54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2024" name="AutoShape 56" descr="Juegos Panamericanos de 2019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990600"/>
            <a:ext cx="845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800" dirty="0" smtClean="0"/>
              <a:t> La matriz de </a:t>
            </a:r>
            <a:r>
              <a:rPr lang="es-MX" sz="2800" dirty="0" err="1" smtClean="0"/>
              <a:t>stakeholders</a:t>
            </a:r>
            <a:endParaRPr kumimoji="0" lang="es-E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71663"/>
            <a:ext cx="9144000" cy="349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3594</TotalTime>
  <Words>106</Words>
  <Application>Microsoft Office PowerPoint</Application>
  <PresentationFormat>Presentación en pantalla (4:3)</PresentationFormat>
  <Paragraphs>28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Conceptual</dc:title>
  <dc:creator>Ramón E. Rivera Chú</dc:creator>
  <cp:lastModifiedBy>ghcastillo</cp:lastModifiedBy>
  <cp:revision>88</cp:revision>
  <dcterms:created xsi:type="dcterms:W3CDTF">2017-11-18T16:24:55Z</dcterms:created>
  <dcterms:modified xsi:type="dcterms:W3CDTF">2021-06-17T01:09:26Z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2013-06-07T00:00:00Z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2017-11-18T00:00:00Z</vt:filetime>
  </property>
</Properties>
</file>